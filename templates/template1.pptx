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3705abbd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b3705abbd_3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3705abbd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fb3705abbd_3_8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b3705abbd_3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g3fb3705abbd_3_11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b3705abbd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fb3705abbd_3_1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b3705abbd_3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fb3705abbd_3_19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b3705abbd_3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fb3705abbd_3_23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b3705abbd_3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fb3705abbd_3_2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b3705abbd_3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fb3705abbd_3_32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b3705abbd_3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g3fb3705abbd_3_34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b3705abbd_3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g3fb3705abbd_3_41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b3705abbd_3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6" name="Google Shape;486;g3fb3705abbd_3_42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92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514364" y="822960"/>
            <a:ext cx="48007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WEEKLY ENGINEERING UPDATE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514364" y="1165860"/>
            <a:ext cx="685818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id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Weekly Activity Deck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534938" y="1769364"/>
            <a:ext cx="651527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d" sz="1200" u="none" cap="none" strike="noStrike">
                <a:solidFill>
                  <a:srgbClr val="C9D1D9"/>
                </a:solidFill>
                <a:latin typeface="Arial"/>
                <a:ea typeface="Arial"/>
                <a:cs typeface="Arial"/>
                <a:sym typeface="Arial"/>
              </a:rPr>
              <a:t>Work items first • GitHub evidence second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514364" y="2606040"/>
            <a:ext cx="2400364" cy="822960"/>
          </a:xfrm>
          <a:prstGeom prst="roundRect">
            <a:avLst>
              <a:gd fmla="val 8000" name="adj"/>
            </a:avLst>
          </a:prstGeom>
          <a:solidFill>
            <a:srgbClr val="30363D"/>
          </a:solidFill>
          <a:ln cap="flat" cmpd="sng" w="9525">
            <a:solidFill>
              <a:srgbClr val="484F5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685818" y="2777490"/>
            <a:ext cx="685818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WEEK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685818" y="3003804"/>
            <a:ext cx="19202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[Sep 7 – Sep 11]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534938" y="4491990"/>
            <a:ext cx="4800728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Name • Team / Project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/>
        </p:nvSpPr>
        <p:spPr>
          <a:xfrm>
            <a:off x="445782" y="288036"/>
            <a:ext cx="68581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d" sz="1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1. Weekly Overview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459498" y="630936"/>
            <a:ext cx="7406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Measure the work, not the number of commits.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8332692" y="329184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445782" y="877824"/>
            <a:ext cx="8229819" cy="10287"/>
          </a:xfrm>
          <a:prstGeom prst="rect">
            <a:avLst/>
          </a:prstGeom>
          <a:solidFill>
            <a:srgbClr val="D0D7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445782" y="1131570"/>
            <a:ext cx="18860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582946" y="1289304"/>
            <a:ext cx="157738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582946" y="1495044"/>
            <a:ext cx="15773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id" sz="17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[3]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82946" y="1865376"/>
            <a:ext cx="157738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Repositories touched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2537527" y="1131570"/>
            <a:ext cx="18860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2674691" y="1289304"/>
            <a:ext cx="157738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WORK ITEMS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2674691" y="1495044"/>
            <a:ext cx="15773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id" sz="17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[5]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2674691" y="1865376"/>
            <a:ext cx="157738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Meaningful pieces of work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4629273" y="1131570"/>
            <a:ext cx="18860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4766437" y="1289304"/>
            <a:ext cx="157738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PRs / MRs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4766437" y="1495044"/>
            <a:ext cx="15773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id" sz="1700" u="none" cap="none" strike="noStrike">
                <a:solidFill>
                  <a:srgbClr val="BF8700"/>
                </a:solidFill>
                <a:latin typeface="Arial"/>
                <a:ea typeface="Arial"/>
                <a:cs typeface="Arial"/>
                <a:sym typeface="Arial"/>
              </a:rPr>
              <a:t>[4]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4766437" y="1865376"/>
            <a:ext cx="157738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Opened / merged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6721018" y="1131570"/>
            <a:ext cx="1886000" cy="102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6858182" y="1289304"/>
            <a:ext cx="157738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6858182" y="1495044"/>
            <a:ext cx="15773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id" sz="1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[27]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6858182" y="1865376"/>
            <a:ext cx="157738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Supporting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480073" y="2503170"/>
            <a:ext cx="2057455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Weekly narrative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445782" y="2777490"/>
            <a:ext cx="8229819" cy="106299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651527" y="2948940"/>
            <a:ext cx="7681165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d" sz="11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[Main feature / delivery completed or progressed]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d" sz="11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[Important bug / stability improvement]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d" sz="11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[Cross-repo or technical work that had meaningful impact]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/>
        </p:nvSpPr>
        <p:spPr>
          <a:xfrm>
            <a:off x="445782" y="288036"/>
            <a:ext cx="68581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d" sz="1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1. MONDAY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459498" y="630936"/>
            <a:ext cx="7406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Kickoff / primary focus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8332692" y="329184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445782" y="877824"/>
            <a:ext cx="8229819" cy="10287"/>
          </a:xfrm>
          <a:prstGeom prst="rect">
            <a:avLst/>
          </a:prstGeom>
          <a:solidFill>
            <a:srgbClr val="D0D7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445782" y="106299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651527" y="121386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WORK ITEM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651527" y="141960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651527" y="171450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651527" y="193395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4972183" y="123444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5088772" y="131673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445782" y="267462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651527" y="282549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WORK ITEM 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651527" y="303123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651527" y="332613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651527" y="354558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4972183" y="284607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5088772" y="292836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6309528" y="1062990"/>
            <a:ext cx="2366100" cy="3257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6515274" y="1268730"/>
            <a:ext cx="18517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GITHUB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6515274" y="161163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7235383" y="157734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[frontend-web]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[backend-api]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6515274" y="212598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7235383" y="2125980"/>
            <a:ext cx="1028727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[8 total]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6515274" y="253746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PR / MR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7235383" y="2537460"/>
            <a:ext cx="11658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[#142] [#88]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6515274" y="294894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7235383" y="291465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[31 files]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[+420 / -110]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6515274" y="346329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7235383" y="3442716"/>
            <a:ext cx="12001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[abc1234 • def5678]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/>
        </p:nvSpPr>
        <p:spPr>
          <a:xfrm>
            <a:off x="445782" y="288036"/>
            <a:ext cx="68581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d" sz="1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2. TUESDAY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459498" y="630936"/>
            <a:ext cx="7406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Execution / progress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8332692" y="329184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445782" y="877824"/>
            <a:ext cx="8229819" cy="10287"/>
          </a:xfrm>
          <a:prstGeom prst="rect">
            <a:avLst/>
          </a:prstGeom>
          <a:solidFill>
            <a:srgbClr val="D0D7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445782" y="106299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651527" y="121386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WORK ITEM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651527" y="141960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651527" y="171450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651527" y="193395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4972183" y="123444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5088772" y="131673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445782" y="267462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651527" y="282549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WORK ITEM 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651527" y="303123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651527" y="332613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8"/>
          <p:cNvSpPr txBox="1"/>
          <p:nvPr/>
        </p:nvSpPr>
        <p:spPr>
          <a:xfrm>
            <a:off x="651527" y="354558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4972183" y="284607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5088772" y="292836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6309528" y="1062990"/>
            <a:ext cx="2366073" cy="325755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8"/>
          <p:cNvSpPr txBox="1"/>
          <p:nvPr/>
        </p:nvSpPr>
        <p:spPr>
          <a:xfrm>
            <a:off x="6515274" y="1268730"/>
            <a:ext cx="18517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GITHUB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8"/>
          <p:cNvSpPr txBox="1"/>
          <p:nvPr/>
        </p:nvSpPr>
        <p:spPr>
          <a:xfrm>
            <a:off x="6515274" y="161163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8"/>
          <p:cNvSpPr txBox="1"/>
          <p:nvPr/>
        </p:nvSpPr>
        <p:spPr>
          <a:xfrm>
            <a:off x="7235383" y="1577340"/>
            <a:ext cx="116589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[frontend-web]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[backend-api]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6515274" y="212598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7235383" y="2125980"/>
            <a:ext cx="1028727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[8 total]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6515274" y="253746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PR / MR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7235383" y="2537460"/>
            <a:ext cx="11658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[#142] [#88]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6515274" y="294894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7235383" y="2914650"/>
            <a:ext cx="116589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[31 files]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[+420 / -110]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6515274" y="346329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7235383" y="3442716"/>
            <a:ext cx="12001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[abc1234 • def5678]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"/>
          <p:cNvSpPr/>
          <p:nvPr/>
        </p:nvSpPr>
        <p:spPr>
          <a:xfrm>
            <a:off x="6309528" y="1062990"/>
            <a:ext cx="2366100" cy="3257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6515274" y="1268730"/>
            <a:ext cx="18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GITHUB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6515274" y="161163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7235383" y="157734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[frontend-web]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[backend-api]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6515274" y="212598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7235383" y="2125980"/>
            <a:ext cx="102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[8 total]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6515274" y="253746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PR / MR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8"/>
          <p:cNvSpPr txBox="1"/>
          <p:nvPr/>
        </p:nvSpPr>
        <p:spPr>
          <a:xfrm>
            <a:off x="7235383" y="2537460"/>
            <a:ext cx="116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[#142] [#88]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6515274" y="294894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7235383" y="291465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[31 files]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[+420 / -110]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6515274" y="346329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7235383" y="3442716"/>
            <a:ext cx="1200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[abc1234 • def5678]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 txBox="1"/>
          <p:nvPr/>
        </p:nvSpPr>
        <p:spPr>
          <a:xfrm>
            <a:off x="445782" y="288036"/>
            <a:ext cx="68581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d" sz="1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3. WEDNESDAY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9"/>
          <p:cNvSpPr txBox="1"/>
          <p:nvPr/>
        </p:nvSpPr>
        <p:spPr>
          <a:xfrm>
            <a:off x="459498" y="630936"/>
            <a:ext cx="7406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Major implementation / integration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8332692" y="329184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9"/>
          <p:cNvSpPr/>
          <p:nvPr/>
        </p:nvSpPr>
        <p:spPr>
          <a:xfrm>
            <a:off x="445782" y="877824"/>
            <a:ext cx="8229819" cy="10287"/>
          </a:xfrm>
          <a:prstGeom prst="rect">
            <a:avLst/>
          </a:prstGeom>
          <a:solidFill>
            <a:srgbClr val="D0D7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9"/>
          <p:cNvSpPr/>
          <p:nvPr/>
        </p:nvSpPr>
        <p:spPr>
          <a:xfrm>
            <a:off x="445782" y="106299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651527" y="121386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WORK ITEM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9"/>
          <p:cNvSpPr txBox="1"/>
          <p:nvPr/>
        </p:nvSpPr>
        <p:spPr>
          <a:xfrm>
            <a:off x="651527" y="141960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651527" y="171450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9"/>
          <p:cNvSpPr txBox="1"/>
          <p:nvPr/>
        </p:nvSpPr>
        <p:spPr>
          <a:xfrm>
            <a:off x="651527" y="193395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972183" y="123444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5088772" y="131673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9"/>
          <p:cNvSpPr/>
          <p:nvPr/>
        </p:nvSpPr>
        <p:spPr>
          <a:xfrm>
            <a:off x="445782" y="267462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651527" y="282549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WORK ITEM 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651527" y="303123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651527" y="332613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651527" y="354558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4972183" y="284607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5088772" y="292836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9"/>
          <p:cNvSpPr/>
          <p:nvPr/>
        </p:nvSpPr>
        <p:spPr>
          <a:xfrm>
            <a:off x="6309528" y="1062990"/>
            <a:ext cx="2366073" cy="325755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9"/>
          <p:cNvSpPr txBox="1"/>
          <p:nvPr/>
        </p:nvSpPr>
        <p:spPr>
          <a:xfrm>
            <a:off x="6515274" y="1268730"/>
            <a:ext cx="18517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GITHUB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6515274" y="161163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7235383" y="1577340"/>
            <a:ext cx="116589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[frontend-web]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[backend-api]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6515274" y="212598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7235383" y="2125980"/>
            <a:ext cx="1028727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[8 total]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9"/>
          <p:cNvSpPr txBox="1"/>
          <p:nvPr/>
        </p:nvSpPr>
        <p:spPr>
          <a:xfrm>
            <a:off x="6515274" y="253746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PR / MR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9"/>
          <p:cNvSpPr txBox="1"/>
          <p:nvPr/>
        </p:nvSpPr>
        <p:spPr>
          <a:xfrm>
            <a:off x="7235383" y="2537460"/>
            <a:ext cx="11658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[#142] [#88]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9"/>
          <p:cNvSpPr txBox="1"/>
          <p:nvPr/>
        </p:nvSpPr>
        <p:spPr>
          <a:xfrm>
            <a:off x="6515274" y="294894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9"/>
          <p:cNvSpPr txBox="1"/>
          <p:nvPr/>
        </p:nvSpPr>
        <p:spPr>
          <a:xfrm>
            <a:off x="7235383" y="2914650"/>
            <a:ext cx="116589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[31 files]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[+420 / -110]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9"/>
          <p:cNvSpPr txBox="1"/>
          <p:nvPr/>
        </p:nvSpPr>
        <p:spPr>
          <a:xfrm>
            <a:off x="6515274" y="346329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7235383" y="3442716"/>
            <a:ext cx="12001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[abc1234 • def5678]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9"/>
          <p:cNvSpPr/>
          <p:nvPr/>
        </p:nvSpPr>
        <p:spPr>
          <a:xfrm>
            <a:off x="6309528" y="1062990"/>
            <a:ext cx="2366100" cy="3257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6515274" y="1268730"/>
            <a:ext cx="18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GITHUB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6515274" y="161163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7235383" y="157734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[frontend-web]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[backend-api]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6515274" y="212598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7235383" y="2125980"/>
            <a:ext cx="102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[8 total]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6515274" y="253746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PR / MR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7235383" y="2537460"/>
            <a:ext cx="116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[#142] [#88]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6515274" y="294894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7235383" y="291465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[31 files]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[+420 / -110]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6515274" y="346329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7235383" y="3442716"/>
            <a:ext cx="1200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[abc1234 • def5678]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"/>
          <p:cNvSpPr txBox="1"/>
          <p:nvPr/>
        </p:nvSpPr>
        <p:spPr>
          <a:xfrm>
            <a:off x="445782" y="288036"/>
            <a:ext cx="68581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d" sz="1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4. THURSDAY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459498" y="630936"/>
            <a:ext cx="7406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Stabilization / review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8332692" y="329184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0"/>
          <p:cNvSpPr/>
          <p:nvPr/>
        </p:nvSpPr>
        <p:spPr>
          <a:xfrm>
            <a:off x="445782" y="877824"/>
            <a:ext cx="8229819" cy="10287"/>
          </a:xfrm>
          <a:prstGeom prst="rect">
            <a:avLst/>
          </a:prstGeom>
          <a:solidFill>
            <a:srgbClr val="D0D7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445782" y="106299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0"/>
          <p:cNvSpPr txBox="1"/>
          <p:nvPr/>
        </p:nvSpPr>
        <p:spPr>
          <a:xfrm>
            <a:off x="651527" y="121386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BF8700"/>
                </a:solidFill>
                <a:latin typeface="Arial"/>
                <a:ea typeface="Arial"/>
                <a:cs typeface="Arial"/>
                <a:sym typeface="Arial"/>
              </a:rPr>
              <a:t>WORK ITEM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0"/>
          <p:cNvSpPr txBox="1"/>
          <p:nvPr/>
        </p:nvSpPr>
        <p:spPr>
          <a:xfrm>
            <a:off x="651527" y="141960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651527" y="171450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651527" y="193395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0"/>
          <p:cNvSpPr/>
          <p:nvPr/>
        </p:nvSpPr>
        <p:spPr>
          <a:xfrm>
            <a:off x="4972183" y="123444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5088772" y="131673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BF8700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0"/>
          <p:cNvSpPr/>
          <p:nvPr/>
        </p:nvSpPr>
        <p:spPr>
          <a:xfrm>
            <a:off x="445782" y="267462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0"/>
          <p:cNvSpPr txBox="1"/>
          <p:nvPr/>
        </p:nvSpPr>
        <p:spPr>
          <a:xfrm>
            <a:off x="651527" y="282549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BF8700"/>
                </a:solidFill>
                <a:latin typeface="Arial"/>
                <a:ea typeface="Arial"/>
                <a:cs typeface="Arial"/>
                <a:sym typeface="Arial"/>
              </a:rPr>
              <a:t>WORK ITEM 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0"/>
          <p:cNvSpPr txBox="1"/>
          <p:nvPr/>
        </p:nvSpPr>
        <p:spPr>
          <a:xfrm>
            <a:off x="651527" y="303123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0"/>
          <p:cNvSpPr txBox="1"/>
          <p:nvPr/>
        </p:nvSpPr>
        <p:spPr>
          <a:xfrm>
            <a:off x="651527" y="332613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651527" y="354558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0"/>
          <p:cNvSpPr/>
          <p:nvPr/>
        </p:nvSpPr>
        <p:spPr>
          <a:xfrm>
            <a:off x="4972183" y="284607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5088772" y="292836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BF8700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6309528" y="1062990"/>
            <a:ext cx="2366073" cy="325755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6515274" y="1268730"/>
            <a:ext cx="18517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GITHUB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6515274" y="161163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7235383" y="1577340"/>
            <a:ext cx="116589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[frontend-web]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[backend-api]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6515274" y="212598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7235383" y="2125980"/>
            <a:ext cx="1028727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BF8700"/>
                </a:solidFill>
                <a:latin typeface="Arial"/>
                <a:ea typeface="Arial"/>
                <a:cs typeface="Arial"/>
                <a:sym typeface="Arial"/>
              </a:rPr>
              <a:t>[8 total]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6515274" y="253746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PR / MR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7235383" y="2537460"/>
            <a:ext cx="11658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[#142] [#88]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6515274" y="294894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7235383" y="2914650"/>
            <a:ext cx="116589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[31 files]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[+420 / -110]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6515274" y="346329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7235383" y="3442716"/>
            <a:ext cx="12001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[abc1234 • def5678]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6309528" y="1062990"/>
            <a:ext cx="2366100" cy="3257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0"/>
          <p:cNvSpPr txBox="1"/>
          <p:nvPr/>
        </p:nvSpPr>
        <p:spPr>
          <a:xfrm>
            <a:off x="6515274" y="1268730"/>
            <a:ext cx="18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GITHUB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0"/>
          <p:cNvSpPr txBox="1"/>
          <p:nvPr/>
        </p:nvSpPr>
        <p:spPr>
          <a:xfrm>
            <a:off x="6515274" y="161163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7235383" y="157734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[frontend-web]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[backend-api]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6515274" y="212598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0"/>
          <p:cNvSpPr txBox="1"/>
          <p:nvPr/>
        </p:nvSpPr>
        <p:spPr>
          <a:xfrm>
            <a:off x="7235383" y="2125980"/>
            <a:ext cx="102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[8 total]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0"/>
          <p:cNvSpPr txBox="1"/>
          <p:nvPr/>
        </p:nvSpPr>
        <p:spPr>
          <a:xfrm>
            <a:off x="6515274" y="253746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PR / MR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7235383" y="2537460"/>
            <a:ext cx="116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[#142] [#88]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6515274" y="294894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7235383" y="291465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[31 files]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[+420 / -110]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6515274" y="346329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7235383" y="3442716"/>
            <a:ext cx="1200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[abc1234 • def5678]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/>
          <p:nvPr/>
        </p:nvSpPr>
        <p:spPr>
          <a:xfrm>
            <a:off x="445782" y="288036"/>
            <a:ext cx="68581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d" sz="1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5. FRIDAY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459498" y="630936"/>
            <a:ext cx="7406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Wrap-up / delivery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8332692" y="329184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445782" y="877824"/>
            <a:ext cx="8229819" cy="10287"/>
          </a:xfrm>
          <a:prstGeom prst="rect">
            <a:avLst/>
          </a:prstGeom>
          <a:solidFill>
            <a:srgbClr val="D0D7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445782" y="106299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651527" y="121386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WORK ITEM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651527" y="141960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1"/>
          <p:cNvSpPr txBox="1"/>
          <p:nvPr/>
        </p:nvSpPr>
        <p:spPr>
          <a:xfrm>
            <a:off x="651527" y="171450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1"/>
          <p:cNvSpPr txBox="1"/>
          <p:nvPr/>
        </p:nvSpPr>
        <p:spPr>
          <a:xfrm>
            <a:off x="651527" y="193395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1"/>
          <p:cNvSpPr/>
          <p:nvPr/>
        </p:nvSpPr>
        <p:spPr>
          <a:xfrm>
            <a:off x="4972183" y="123444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1"/>
          <p:cNvSpPr txBox="1"/>
          <p:nvPr/>
        </p:nvSpPr>
        <p:spPr>
          <a:xfrm>
            <a:off x="5088772" y="131673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445782" y="2674620"/>
            <a:ext cx="5658001" cy="1405889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651527" y="2825496"/>
            <a:ext cx="10973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WORK ITEM 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31"/>
          <p:cNvSpPr txBox="1"/>
          <p:nvPr/>
        </p:nvSpPr>
        <p:spPr>
          <a:xfrm>
            <a:off x="651527" y="3031236"/>
            <a:ext cx="397774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d" sz="12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[Work item / ticket / feature name]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651527" y="3326130"/>
            <a:ext cx="397774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Type: [Feature / Bugfix / Refactor / Review]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1"/>
          <p:cNvSpPr txBox="1"/>
          <p:nvPr/>
        </p:nvSpPr>
        <p:spPr>
          <a:xfrm>
            <a:off x="651527" y="3545586"/>
            <a:ext cx="4732146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[What changed]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[Why it mattered / outcome]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4972183" y="2846070"/>
            <a:ext cx="857273" cy="308610"/>
          </a:xfrm>
          <a:prstGeom prst="roundRect">
            <a:avLst>
              <a:gd fmla="val 8000" name="adj"/>
            </a:avLst>
          </a:prstGeom>
          <a:solidFill>
            <a:srgbClr val="EAEEF2"/>
          </a:solidFill>
          <a:ln cap="flat" cmpd="sng" w="9525">
            <a:solidFill>
              <a:srgbClr val="EAEE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 txBox="1"/>
          <p:nvPr/>
        </p:nvSpPr>
        <p:spPr>
          <a:xfrm>
            <a:off x="5088772" y="2928366"/>
            <a:ext cx="617236" cy="123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[Major]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6309528" y="1062990"/>
            <a:ext cx="2366073" cy="325755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6515274" y="1268730"/>
            <a:ext cx="18517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GITHUB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6515274" y="161163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1"/>
          <p:cNvSpPr txBox="1"/>
          <p:nvPr/>
        </p:nvSpPr>
        <p:spPr>
          <a:xfrm>
            <a:off x="7235383" y="1577340"/>
            <a:ext cx="116589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[frontend-web]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[backend-api]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1"/>
          <p:cNvSpPr txBox="1"/>
          <p:nvPr/>
        </p:nvSpPr>
        <p:spPr>
          <a:xfrm>
            <a:off x="6515274" y="212598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1"/>
          <p:cNvSpPr txBox="1"/>
          <p:nvPr/>
        </p:nvSpPr>
        <p:spPr>
          <a:xfrm>
            <a:off x="7235383" y="2125980"/>
            <a:ext cx="1028727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[8 total]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6515274" y="253746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PR / MR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7235383" y="2537460"/>
            <a:ext cx="116589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[#142] [#88]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6515274" y="294894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1"/>
          <p:cNvSpPr txBox="1"/>
          <p:nvPr/>
        </p:nvSpPr>
        <p:spPr>
          <a:xfrm>
            <a:off x="7235383" y="2914650"/>
            <a:ext cx="1165891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[31 files]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[+420 / -110]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1"/>
          <p:cNvSpPr txBox="1"/>
          <p:nvPr/>
        </p:nvSpPr>
        <p:spPr>
          <a:xfrm>
            <a:off x="6515274" y="3463290"/>
            <a:ext cx="6858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7235383" y="3442716"/>
            <a:ext cx="120018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[abc1234 • def5678]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6309528" y="1062990"/>
            <a:ext cx="2366100" cy="3257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 txBox="1"/>
          <p:nvPr/>
        </p:nvSpPr>
        <p:spPr>
          <a:xfrm>
            <a:off x="6515274" y="1268730"/>
            <a:ext cx="18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GITHUB EVIDENCE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1"/>
          <p:cNvSpPr txBox="1"/>
          <p:nvPr/>
        </p:nvSpPr>
        <p:spPr>
          <a:xfrm>
            <a:off x="6515274" y="161163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1"/>
          <p:cNvSpPr txBox="1"/>
          <p:nvPr/>
        </p:nvSpPr>
        <p:spPr>
          <a:xfrm>
            <a:off x="7235383" y="157734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[frontend-web]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[backend-api]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1"/>
          <p:cNvSpPr txBox="1"/>
          <p:nvPr/>
        </p:nvSpPr>
        <p:spPr>
          <a:xfrm>
            <a:off x="6515274" y="212598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1"/>
          <p:cNvSpPr txBox="1"/>
          <p:nvPr/>
        </p:nvSpPr>
        <p:spPr>
          <a:xfrm>
            <a:off x="7235383" y="2125980"/>
            <a:ext cx="1028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[8 total]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6515274" y="253746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PR / MR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7235383" y="2537460"/>
            <a:ext cx="116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[#142] [#88]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1"/>
          <p:cNvSpPr txBox="1"/>
          <p:nvPr/>
        </p:nvSpPr>
        <p:spPr>
          <a:xfrm>
            <a:off x="6515274" y="294894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7235383" y="2914650"/>
            <a:ext cx="1165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[31 files]</a:t>
            </a:r>
            <a:br>
              <a:rPr b="0" i="0" lang="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id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[+420 / -110]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 txBox="1"/>
          <p:nvPr/>
        </p:nvSpPr>
        <p:spPr>
          <a:xfrm>
            <a:off x="6515274" y="3463290"/>
            <a:ext cx="68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1"/>
          <p:cNvSpPr txBox="1"/>
          <p:nvPr/>
        </p:nvSpPr>
        <p:spPr>
          <a:xfrm>
            <a:off x="7235383" y="3442716"/>
            <a:ext cx="12003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[abc1234 • def5678]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 txBox="1"/>
          <p:nvPr/>
        </p:nvSpPr>
        <p:spPr>
          <a:xfrm>
            <a:off x="445782" y="288036"/>
            <a:ext cx="6858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d" sz="1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Weekly Highlights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2"/>
          <p:cNvSpPr txBox="1"/>
          <p:nvPr/>
        </p:nvSpPr>
        <p:spPr>
          <a:xfrm>
            <a:off x="459498" y="630936"/>
            <a:ext cx="7406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The 2–3 pieces of work worth talking about in standup.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2"/>
          <p:cNvSpPr txBox="1"/>
          <p:nvPr/>
        </p:nvSpPr>
        <p:spPr>
          <a:xfrm>
            <a:off x="8332692" y="329184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2"/>
          <p:cNvSpPr/>
          <p:nvPr/>
        </p:nvSpPr>
        <p:spPr>
          <a:xfrm>
            <a:off x="445782" y="877824"/>
            <a:ext cx="8229819" cy="10287"/>
          </a:xfrm>
          <a:prstGeom prst="rect">
            <a:avLst/>
          </a:prstGeom>
          <a:solidFill>
            <a:srgbClr val="D0D7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2"/>
          <p:cNvSpPr/>
          <p:nvPr/>
        </p:nvSpPr>
        <p:spPr>
          <a:xfrm>
            <a:off x="445782" y="1131570"/>
            <a:ext cx="8229819" cy="78867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2"/>
          <p:cNvSpPr txBox="1"/>
          <p:nvPr/>
        </p:nvSpPr>
        <p:spPr>
          <a:xfrm>
            <a:off x="630953" y="1337310"/>
            <a:ext cx="3429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2F81F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2"/>
          <p:cNvSpPr txBox="1"/>
          <p:nvPr/>
        </p:nvSpPr>
        <p:spPr>
          <a:xfrm>
            <a:off x="1028727" y="1268729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[Major feature]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2"/>
          <p:cNvSpPr txBox="1"/>
          <p:nvPr/>
        </p:nvSpPr>
        <p:spPr>
          <a:xfrm>
            <a:off x="3497673" y="1303020"/>
            <a:ext cx="4663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[Cross-repo delivery / user impact]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2"/>
          <p:cNvSpPr/>
          <p:nvPr/>
        </p:nvSpPr>
        <p:spPr>
          <a:xfrm>
            <a:off x="445782" y="2125979"/>
            <a:ext cx="8229819" cy="78867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630953" y="2331719"/>
            <a:ext cx="3429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CF222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2"/>
          <p:cNvSpPr txBox="1"/>
          <p:nvPr/>
        </p:nvSpPr>
        <p:spPr>
          <a:xfrm>
            <a:off x="1028727" y="2263140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[Important bugfix]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 txBox="1"/>
          <p:nvPr/>
        </p:nvSpPr>
        <p:spPr>
          <a:xfrm>
            <a:off x="3497673" y="2297429"/>
            <a:ext cx="4663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[Stability / reliability improvement]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445782" y="3120390"/>
            <a:ext cx="8229819" cy="78867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2"/>
          <p:cNvSpPr txBox="1"/>
          <p:nvPr/>
        </p:nvSpPr>
        <p:spPr>
          <a:xfrm>
            <a:off x="630953" y="3326130"/>
            <a:ext cx="3429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id" sz="9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 txBox="1"/>
          <p:nvPr/>
        </p:nvSpPr>
        <p:spPr>
          <a:xfrm>
            <a:off x="1028727" y="3257550"/>
            <a:ext cx="27432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id" sz="11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[Technical improvement]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 txBox="1"/>
          <p:nvPr/>
        </p:nvSpPr>
        <p:spPr>
          <a:xfrm>
            <a:off x="3497673" y="3291840"/>
            <a:ext cx="46635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[Maintainability / performance / quality]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3"/>
          <p:cNvSpPr txBox="1"/>
          <p:nvPr/>
        </p:nvSpPr>
        <p:spPr>
          <a:xfrm>
            <a:off x="445782" y="288036"/>
            <a:ext cx="6858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d" sz="1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Work Item Summary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3"/>
          <p:cNvSpPr txBox="1"/>
          <p:nvPr/>
        </p:nvSpPr>
        <p:spPr>
          <a:xfrm>
            <a:off x="459498" y="630936"/>
            <a:ext cx="7406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Useful when one task spans multiple repos or multiple commits.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3"/>
          <p:cNvSpPr txBox="1"/>
          <p:nvPr/>
        </p:nvSpPr>
        <p:spPr>
          <a:xfrm>
            <a:off x="8332692" y="329184"/>
            <a:ext cx="342909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3"/>
          <p:cNvSpPr/>
          <p:nvPr/>
        </p:nvSpPr>
        <p:spPr>
          <a:xfrm>
            <a:off x="445782" y="877824"/>
            <a:ext cx="8229819" cy="10287"/>
          </a:xfrm>
          <a:prstGeom prst="rect">
            <a:avLst/>
          </a:prstGeom>
          <a:solidFill>
            <a:srgbClr val="D0D7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445782" y="1110996"/>
            <a:ext cx="2126037" cy="425196"/>
          </a:xfrm>
          <a:prstGeom prst="roundRect">
            <a:avLst>
              <a:gd fmla="val 8000" name="adj"/>
            </a:avLst>
          </a:prstGeom>
          <a:solidFill>
            <a:srgbClr val="24292F"/>
          </a:solidFill>
          <a:ln cap="flat" cmpd="sng" w="9525">
            <a:solidFill>
              <a:srgbClr val="2429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3"/>
          <p:cNvSpPr txBox="1"/>
          <p:nvPr/>
        </p:nvSpPr>
        <p:spPr>
          <a:xfrm>
            <a:off x="528080" y="1255014"/>
            <a:ext cx="19614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 ITEM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3"/>
          <p:cNvSpPr/>
          <p:nvPr/>
        </p:nvSpPr>
        <p:spPr>
          <a:xfrm>
            <a:off x="2571819" y="1110996"/>
            <a:ext cx="1508800" cy="425196"/>
          </a:xfrm>
          <a:prstGeom prst="roundRect">
            <a:avLst>
              <a:gd fmla="val 8000" name="adj"/>
            </a:avLst>
          </a:prstGeom>
          <a:solidFill>
            <a:srgbClr val="24292F"/>
          </a:solidFill>
          <a:ln cap="flat" cmpd="sng" w="9525">
            <a:solidFill>
              <a:srgbClr val="2429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3"/>
          <p:cNvSpPr txBox="1"/>
          <p:nvPr/>
        </p:nvSpPr>
        <p:spPr>
          <a:xfrm>
            <a:off x="2654117" y="1255014"/>
            <a:ext cx="13442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3"/>
          <p:cNvSpPr/>
          <p:nvPr/>
        </p:nvSpPr>
        <p:spPr>
          <a:xfrm>
            <a:off x="4080619" y="1110996"/>
            <a:ext cx="1063018" cy="425196"/>
          </a:xfrm>
          <a:prstGeom prst="roundRect">
            <a:avLst>
              <a:gd fmla="val 8000" name="adj"/>
            </a:avLst>
          </a:prstGeom>
          <a:solidFill>
            <a:srgbClr val="24292F"/>
          </a:solidFill>
          <a:ln cap="flat" cmpd="sng" w="9525">
            <a:solidFill>
              <a:srgbClr val="2429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3"/>
          <p:cNvSpPr txBox="1"/>
          <p:nvPr/>
        </p:nvSpPr>
        <p:spPr>
          <a:xfrm>
            <a:off x="4162917" y="1255014"/>
            <a:ext cx="89842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3"/>
          <p:cNvSpPr/>
          <p:nvPr/>
        </p:nvSpPr>
        <p:spPr>
          <a:xfrm>
            <a:off x="5143637" y="1110996"/>
            <a:ext cx="1474509" cy="425196"/>
          </a:xfrm>
          <a:prstGeom prst="roundRect">
            <a:avLst>
              <a:gd fmla="val 8000" name="adj"/>
            </a:avLst>
          </a:prstGeom>
          <a:solidFill>
            <a:srgbClr val="24292F"/>
          </a:solidFill>
          <a:ln cap="flat" cmpd="sng" w="9525">
            <a:solidFill>
              <a:srgbClr val="2429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3"/>
          <p:cNvSpPr txBox="1"/>
          <p:nvPr/>
        </p:nvSpPr>
        <p:spPr>
          <a:xfrm>
            <a:off x="5225935" y="1255014"/>
            <a:ext cx="130991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6618146" y="1110996"/>
            <a:ext cx="1028727" cy="425196"/>
          </a:xfrm>
          <a:prstGeom prst="roundRect">
            <a:avLst>
              <a:gd fmla="val 8000" name="adj"/>
            </a:avLst>
          </a:prstGeom>
          <a:solidFill>
            <a:srgbClr val="24292F"/>
          </a:solidFill>
          <a:ln cap="flat" cmpd="sng" w="9525">
            <a:solidFill>
              <a:srgbClr val="2429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3"/>
          <p:cNvSpPr txBox="1"/>
          <p:nvPr/>
        </p:nvSpPr>
        <p:spPr>
          <a:xfrm>
            <a:off x="6700445" y="1255014"/>
            <a:ext cx="86413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3"/>
          <p:cNvSpPr/>
          <p:nvPr/>
        </p:nvSpPr>
        <p:spPr>
          <a:xfrm>
            <a:off x="7646874" y="1110996"/>
            <a:ext cx="1028727" cy="425196"/>
          </a:xfrm>
          <a:prstGeom prst="roundRect">
            <a:avLst>
              <a:gd fmla="val 8000" name="adj"/>
            </a:avLst>
          </a:prstGeom>
          <a:solidFill>
            <a:srgbClr val="24292F"/>
          </a:solidFill>
          <a:ln cap="flat" cmpd="sng" w="9525">
            <a:solidFill>
              <a:srgbClr val="2429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3"/>
          <p:cNvSpPr txBox="1"/>
          <p:nvPr/>
        </p:nvSpPr>
        <p:spPr>
          <a:xfrm>
            <a:off x="7729172" y="1255014"/>
            <a:ext cx="864131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id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445782" y="1536192"/>
            <a:ext cx="212603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3"/>
          <p:cNvSpPr txBox="1"/>
          <p:nvPr/>
        </p:nvSpPr>
        <p:spPr>
          <a:xfrm>
            <a:off x="528080" y="1673352"/>
            <a:ext cx="19614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[Feature A]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2571819" y="1536192"/>
            <a:ext cx="1508800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 txBox="1"/>
          <p:nvPr/>
        </p:nvSpPr>
        <p:spPr>
          <a:xfrm>
            <a:off x="2654117" y="1673352"/>
            <a:ext cx="134420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frontend + api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4080619" y="1536192"/>
            <a:ext cx="1063018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 txBox="1"/>
          <p:nvPr/>
        </p:nvSpPr>
        <p:spPr>
          <a:xfrm>
            <a:off x="4162917" y="1673352"/>
            <a:ext cx="89842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5143637" y="1536192"/>
            <a:ext cx="1474509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3"/>
          <p:cNvSpPr txBox="1"/>
          <p:nvPr/>
        </p:nvSpPr>
        <p:spPr>
          <a:xfrm>
            <a:off x="5225935" y="1673352"/>
            <a:ext cx="130991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2 PRs • 9 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6618146" y="1536192"/>
            <a:ext cx="102872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 txBox="1"/>
          <p:nvPr/>
        </p:nvSpPr>
        <p:spPr>
          <a:xfrm>
            <a:off x="6700445" y="1673352"/>
            <a:ext cx="86413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Major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7646874" y="1536192"/>
            <a:ext cx="102872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 txBox="1"/>
          <p:nvPr/>
        </p:nvSpPr>
        <p:spPr>
          <a:xfrm>
            <a:off x="7729172" y="1673352"/>
            <a:ext cx="86413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445782" y="2029968"/>
            <a:ext cx="212603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 txBox="1"/>
          <p:nvPr/>
        </p:nvSpPr>
        <p:spPr>
          <a:xfrm>
            <a:off x="528080" y="2167128"/>
            <a:ext cx="19614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[Bug B]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2571819" y="2029968"/>
            <a:ext cx="1508800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 txBox="1"/>
          <p:nvPr/>
        </p:nvSpPr>
        <p:spPr>
          <a:xfrm>
            <a:off x="2654117" y="2167128"/>
            <a:ext cx="134420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4080619" y="2029968"/>
            <a:ext cx="1063018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3"/>
          <p:cNvSpPr txBox="1"/>
          <p:nvPr/>
        </p:nvSpPr>
        <p:spPr>
          <a:xfrm>
            <a:off x="4162917" y="2167128"/>
            <a:ext cx="89842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Bugfix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5143637" y="2029968"/>
            <a:ext cx="1474509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3"/>
          <p:cNvSpPr txBox="1"/>
          <p:nvPr/>
        </p:nvSpPr>
        <p:spPr>
          <a:xfrm>
            <a:off x="5225935" y="2167128"/>
            <a:ext cx="130991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1 PR • 4 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3"/>
          <p:cNvSpPr/>
          <p:nvPr/>
        </p:nvSpPr>
        <p:spPr>
          <a:xfrm>
            <a:off x="6618146" y="2029968"/>
            <a:ext cx="102872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3"/>
          <p:cNvSpPr txBox="1"/>
          <p:nvPr/>
        </p:nvSpPr>
        <p:spPr>
          <a:xfrm>
            <a:off x="6700445" y="2167128"/>
            <a:ext cx="86413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3"/>
          <p:cNvSpPr/>
          <p:nvPr/>
        </p:nvSpPr>
        <p:spPr>
          <a:xfrm>
            <a:off x="7646874" y="2029968"/>
            <a:ext cx="102872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3"/>
          <p:cNvSpPr txBox="1"/>
          <p:nvPr/>
        </p:nvSpPr>
        <p:spPr>
          <a:xfrm>
            <a:off x="7729172" y="2167128"/>
            <a:ext cx="86413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3"/>
          <p:cNvSpPr/>
          <p:nvPr/>
        </p:nvSpPr>
        <p:spPr>
          <a:xfrm>
            <a:off x="445782" y="2523744"/>
            <a:ext cx="212603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3"/>
          <p:cNvSpPr txBox="1"/>
          <p:nvPr/>
        </p:nvSpPr>
        <p:spPr>
          <a:xfrm>
            <a:off x="528080" y="2660904"/>
            <a:ext cx="19614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[Refactor C]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3"/>
          <p:cNvSpPr/>
          <p:nvPr/>
        </p:nvSpPr>
        <p:spPr>
          <a:xfrm>
            <a:off x="2571819" y="2523744"/>
            <a:ext cx="1508800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3"/>
          <p:cNvSpPr txBox="1"/>
          <p:nvPr/>
        </p:nvSpPr>
        <p:spPr>
          <a:xfrm>
            <a:off x="2654117" y="2660904"/>
            <a:ext cx="134420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shared-ui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3"/>
          <p:cNvSpPr/>
          <p:nvPr/>
        </p:nvSpPr>
        <p:spPr>
          <a:xfrm>
            <a:off x="4080619" y="2523744"/>
            <a:ext cx="1063018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3"/>
          <p:cNvSpPr txBox="1"/>
          <p:nvPr/>
        </p:nvSpPr>
        <p:spPr>
          <a:xfrm>
            <a:off x="4162917" y="2660904"/>
            <a:ext cx="89842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Refactor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3"/>
          <p:cNvSpPr/>
          <p:nvPr/>
        </p:nvSpPr>
        <p:spPr>
          <a:xfrm>
            <a:off x="5143637" y="2523744"/>
            <a:ext cx="1474509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3"/>
          <p:cNvSpPr txBox="1"/>
          <p:nvPr/>
        </p:nvSpPr>
        <p:spPr>
          <a:xfrm>
            <a:off x="5225935" y="2660904"/>
            <a:ext cx="130991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1 PR • 14 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3"/>
          <p:cNvSpPr/>
          <p:nvPr/>
        </p:nvSpPr>
        <p:spPr>
          <a:xfrm>
            <a:off x="6618146" y="2523744"/>
            <a:ext cx="102872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3"/>
          <p:cNvSpPr txBox="1"/>
          <p:nvPr/>
        </p:nvSpPr>
        <p:spPr>
          <a:xfrm>
            <a:off x="6700445" y="2660904"/>
            <a:ext cx="86413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Major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3"/>
          <p:cNvSpPr/>
          <p:nvPr/>
        </p:nvSpPr>
        <p:spPr>
          <a:xfrm>
            <a:off x="7646874" y="2523744"/>
            <a:ext cx="102872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3"/>
          <p:cNvSpPr txBox="1"/>
          <p:nvPr/>
        </p:nvSpPr>
        <p:spPr>
          <a:xfrm>
            <a:off x="7729172" y="2660904"/>
            <a:ext cx="86413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Done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3"/>
          <p:cNvSpPr/>
          <p:nvPr/>
        </p:nvSpPr>
        <p:spPr>
          <a:xfrm>
            <a:off x="445782" y="3017520"/>
            <a:ext cx="212603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3"/>
          <p:cNvSpPr txBox="1"/>
          <p:nvPr/>
        </p:nvSpPr>
        <p:spPr>
          <a:xfrm>
            <a:off x="528080" y="3154680"/>
            <a:ext cx="196144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[Task D]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3"/>
          <p:cNvSpPr/>
          <p:nvPr/>
        </p:nvSpPr>
        <p:spPr>
          <a:xfrm>
            <a:off x="2571819" y="3017520"/>
            <a:ext cx="1508800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2654117" y="3154680"/>
            <a:ext cx="134420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3"/>
          <p:cNvSpPr/>
          <p:nvPr/>
        </p:nvSpPr>
        <p:spPr>
          <a:xfrm>
            <a:off x="4080619" y="3017520"/>
            <a:ext cx="1063018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4162917" y="3154680"/>
            <a:ext cx="898422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3"/>
          <p:cNvSpPr/>
          <p:nvPr/>
        </p:nvSpPr>
        <p:spPr>
          <a:xfrm>
            <a:off x="5143637" y="3017520"/>
            <a:ext cx="1474509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5225935" y="3154680"/>
            <a:ext cx="130991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3 commits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6618146" y="3017520"/>
            <a:ext cx="102872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6700445" y="3154680"/>
            <a:ext cx="86413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7646874" y="3017520"/>
            <a:ext cx="1028727" cy="49377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7729172" y="3154680"/>
            <a:ext cx="86413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In progress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/>
        </p:nvSpPr>
        <p:spPr>
          <a:xfrm>
            <a:off x="445782" y="288036"/>
            <a:ext cx="6858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id" sz="1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Blockers &amp; Next Week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4"/>
          <p:cNvSpPr txBox="1"/>
          <p:nvPr/>
        </p:nvSpPr>
        <p:spPr>
          <a:xfrm>
            <a:off x="459498" y="630936"/>
            <a:ext cx="74068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id" sz="800" u="none" cap="none" strike="noStrike">
                <a:solidFill>
                  <a:srgbClr val="656D76"/>
                </a:solidFill>
                <a:latin typeface="Arial"/>
                <a:ea typeface="Arial"/>
                <a:cs typeface="Arial"/>
                <a:sym typeface="Arial"/>
              </a:rPr>
              <a:t>Close with actions, dependencies, and upcoming work.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4"/>
          <p:cNvSpPr txBox="1"/>
          <p:nvPr/>
        </p:nvSpPr>
        <p:spPr>
          <a:xfrm>
            <a:off x="8332692" y="329184"/>
            <a:ext cx="3429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lang="id" sz="700">
                <a:solidFill>
                  <a:srgbClr val="656D76"/>
                </a:solidFill>
              </a:rPr>
              <a:t>10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445782" y="877824"/>
            <a:ext cx="8229819" cy="10287"/>
          </a:xfrm>
          <a:prstGeom prst="rect">
            <a:avLst/>
          </a:prstGeom>
          <a:solidFill>
            <a:srgbClr val="D0D7D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4"/>
          <p:cNvSpPr/>
          <p:nvPr/>
        </p:nvSpPr>
        <p:spPr>
          <a:xfrm>
            <a:off x="445782" y="1110996"/>
            <a:ext cx="3943455" cy="26060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4"/>
          <p:cNvSpPr txBox="1"/>
          <p:nvPr/>
        </p:nvSpPr>
        <p:spPr>
          <a:xfrm>
            <a:off x="651527" y="1337310"/>
            <a:ext cx="2057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CF222E"/>
                </a:solidFill>
                <a:latin typeface="Arial"/>
                <a:ea typeface="Arial"/>
                <a:cs typeface="Arial"/>
                <a:sym typeface="Arial"/>
              </a:rPr>
              <a:t>BLOCKERS / RISKS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651527" y="1645920"/>
            <a:ext cx="2057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d" sz="14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[None]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4"/>
          <p:cNvSpPr txBox="1"/>
          <p:nvPr/>
        </p:nvSpPr>
        <p:spPr>
          <a:xfrm>
            <a:off x="651527" y="2091690"/>
            <a:ext cx="32919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d" sz="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[Dependency / decision]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d" sz="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[Potential timeline risk]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id" sz="9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[Question / follow-up]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4"/>
          <p:cNvSpPr/>
          <p:nvPr/>
        </p:nvSpPr>
        <p:spPr>
          <a:xfrm>
            <a:off x="4629273" y="1110996"/>
            <a:ext cx="4046328" cy="260604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0D7D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4"/>
          <p:cNvSpPr txBox="1"/>
          <p:nvPr/>
        </p:nvSpPr>
        <p:spPr>
          <a:xfrm>
            <a:off x="4835019" y="1337310"/>
            <a:ext cx="2057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id" sz="800" u="none" cap="none" strike="noStrike">
                <a:solidFill>
                  <a:srgbClr val="1F883D"/>
                </a:solidFill>
                <a:latin typeface="Arial"/>
                <a:ea typeface="Arial"/>
                <a:cs typeface="Arial"/>
                <a:sym typeface="Arial"/>
              </a:rPr>
              <a:t>NEXT WEEK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4"/>
          <p:cNvSpPr txBox="1"/>
          <p:nvPr/>
        </p:nvSpPr>
        <p:spPr>
          <a:xfrm>
            <a:off x="4835019" y="1680210"/>
            <a:ext cx="336051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d" sz="10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[Finish / ship current work]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d" sz="10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[Start next work item]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d" sz="1000" u="none" cap="none" strike="noStrike">
                <a:solidFill>
                  <a:srgbClr val="1F2328"/>
                </a:solidFill>
                <a:latin typeface="Arial"/>
                <a:ea typeface="Arial"/>
                <a:cs typeface="Arial"/>
                <a:sym typeface="Arial"/>
              </a:rPr>
              <a:t>[Testing / monitoring / follow-up]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92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5"/>
          <p:cNvSpPr txBox="1"/>
          <p:nvPr/>
        </p:nvSpPr>
        <p:spPr>
          <a:xfrm>
            <a:off x="514364" y="788670"/>
            <a:ext cx="6858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id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5"/>
          <p:cNvSpPr txBox="1"/>
          <p:nvPr/>
        </p:nvSpPr>
        <p:spPr>
          <a:xfrm>
            <a:off x="514363" y="4738850"/>
            <a:ext cx="7201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d" sz="1100" u="none" cap="none" strike="noStrike">
                <a:solidFill>
                  <a:srgbClr val="C9D1D9"/>
                </a:solidFill>
                <a:latin typeface="Arial"/>
                <a:ea typeface="Arial"/>
                <a:cs typeface="Arial"/>
                <a:sym typeface="Arial"/>
              </a:rPr>
              <a:t>- made by decktective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